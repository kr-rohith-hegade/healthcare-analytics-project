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7E411D5-76C1-460D-83FF-A1911B94BE46}">
          <p14:sldIdLst>
            <p14:sldId id="257"/>
            <p14:sldId id="258"/>
            <p14:sldId id="259"/>
            <p14:sldId id="261"/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388B6-3AA5-4A17-B0F0-AF5AD3856E3B}" type="doc">
      <dgm:prSet loTypeId="urn:microsoft.com/office/officeart/2005/8/layout/defaul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4F682D-76A0-43E7-9177-070F54AE06C7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1. Project Overview &amp; Objective</a:t>
          </a:r>
          <a:endParaRPr lang="en-IN" dirty="0">
            <a:solidFill>
              <a:schemeClr val="tx1"/>
            </a:solidFill>
          </a:endParaRPr>
        </a:p>
      </dgm:t>
    </dgm:pt>
    <dgm:pt modelId="{B70AFD3C-7E36-4452-9D44-52941F86BFA7}" type="parTrans" cxnId="{ADBEBCC8-6184-4D5A-9883-598D2A4C0204}">
      <dgm:prSet/>
      <dgm:spPr/>
      <dgm:t>
        <a:bodyPr/>
        <a:lstStyle/>
        <a:p>
          <a:endParaRPr lang="en-IN"/>
        </a:p>
      </dgm:t>
    </dgm:pt>
    <dgm:pt modelId="{ABFCC5C4-7FF2-47E6-AD28-BDF5C01C6C8F}" type="sibTrans" cxnId="{ADBEBCC8-6184-4D5A-9883-598D2A4C0204}">
      <dgm:prSet/>
      <dgm:spPr/>
      <dgm:t>
        <a:bodyPr/>
        <a:lstStyle/>
        <a:p>
          <a:endParaRPr lang="en-IN"/>
        </a:p>
      </dgm:t>
    </dgm:pt>
    <dgm:pt modelId="{5180332A-16CF-40F8-9C9D-382303781BF7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2. Data Cleaning and Modeling</a:t>
          </a:r>
          <a:endParaRPr lang="en-IN" dirty="0">
            <a:solidFill>
              <a:schemeClr val="tx1"/>
            </a:solidFill>
          </a:endParaRPr>
        </a:p>
      </dgm:t>
    </dgm:pt>
    <dgm:pt modelId="{D9A6FAC4-5BC1-464C-9BEA-A2A7E50F669F}" type="parTrans" cxnId="{5D153D5B-0DB7-4E19-959F-7D0467BC299E}">
      <dgm:prSet/>
      <dgm:spPr/>
      <dgm:t>
        <a:bodyPr/>
        <a:lstStyle/>
        <a:p>
          <a:endParaRPr lang="en-IN"/>
        </a:p>
      </dgm:t>
    </dgm:pt>
    <dgm:pt modelId="{22E42C32-E65B-406D-A6A1-36A8C8F85FEB}" type="sibTrans" cxnId="{5D153D5B-0DB7-4E19-959F-7D0467BC299E}">
      <dgm:prSet/>
      <dgm:spPr/>
      <dgm:t>
        <a:bodyPr/>
        <a:lstStyle/>
        <a:p>
          <a:endParaRPr lang="en-IN"/>
        </a:p>
      </dgm:t>
    </dgm:pt>
    <dgm:pt modelId="{85715FEF-22B8-49CB-BC62-2ACBFD9521E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Nunito Semi Bold" panose="020B0604020202020204" charset="0"/>
            </a:rPr>
            <a:t>3. KPI LIST</a:t>
          </a:r>
          <a:endParaRPr lang="en-IN" dirty="0">
            <a:solidFill>
              <a:schemeClr val="tx1"/>
            </a:solidFill>
            <a:latin typeface="Nunito Semi Bold" panose="020B0604020202020204" charset="0"/>
          </a:endParaRPr>
        </a:p>
      </dgm:t>
    </dgm:pt>
    <dgm:pt modelId="{F74A96F7-31B8-462C-912D-CBD1F859D9BF}" type="parTrans" cxnId="{E08D74FE-621E-47D0-90A5-BF6A360BAE16}">
      <dgm:prSet/>
      <dgm:spPr/>
      <dgm:t>
        <a:bodyPr/>
        <a:lstStyle/>
        <a:p>
          <a:endParaRPr lang="en-IN"/>
        </a:p>
      </dgm:t>
    </dgm:pt>
    <dgm:pt modelId="{38523769-ADAD-4DE1-A733-5B4A7EBE8554}" type="sibTrans" cxnId="{E08D74FE-621E-47D0-90A5-BF6A360BAE16}">
      <dgm:prSet/>
      <dgm:spPr/>
      <dgm:t>
        <a:bodyPr/>
        <a:lstStyle/>
        <a:p>
          <a:endParaRPr lang="en-IN"/>
        </a:p>
      </dgm:t>
    </dgm:pt>
    <dgm:pt modelId="{6A12A3AD-2FEE-4E7E-95F4-DAE6E1E511E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4. Dashboard Presentation</a:t>
          </a:r>
          <a:endParaRPr lang="en-US" dirty="0">
            <a:solidFill>
              <a:schemeClr val="tx1"/>
            </a:solidFill>
          </a:endParaRPr>
        </a:p>
        <a:p>
          <a:endParaRPr lang="en-IN" dirty="0">
            <a:solidFill>
              <a:schemeClr val="tx1"/>
            </a:solidFill>
          </a:endParaRPr>
        </a:p>
      </dgm:t>
    </dgm:pt>
    <dgm:pt modelId="{C3FC567E-3269-47D4-A1A8-298E7627255E}" type="parTrans" cxnId="{168890DE-71A2-4705-87B7-380DCF067D80}">
      <dgm:prSet/>
      <dgm:spPr/>
      <dgm:t>
        <a:bodyPr/>
        <a:lstStyle/>
        <a:p>
          <a:endParaRPr lang="en-IN"/>
        </a:p>
      </dgm:t>
    </dgm:pt>
    <dgm:pt modelId="{C832D090-64C5-4E6C-ACC6-999DC6329F8E}" type="sibTrans" cxnId="{168890DE-71A2-4705-87B7-380DCF067D80}">
      <dgm:prSet/>
      <dgm:spPr/>
      <dgm:t>
        <a:bodyPr/>
        <a:lstStyle/>
        <a:p>
          <a:endParaRPr lang="en-IN"/>
        </a:p>
      </dgm:t>
    </dgm:pt>
    <dgm:pt modelId="{079543E6-DA1D-4EE3-A590-3B7388D7135E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anose="020B0604020202020204" charset="0"/>
            </a:rPr>
            <a:t>5. Challenges Faced</a:t>
          </a:r>
          <a:endParaRPr lang="en-IN" dirty="0">
            <a:solidFill>
              <a:schemeClr val="tx1"/>
            </a:solidFill>
            <a:latin typeface="Nunito Semi Bold" panose="020B0604020202020204" charset="0"/>
          </a:endParaRPr>
        </a:p>
      </dgm:t>
    </dgm:pt>
    <dgm:pt modelId="{B6776827-065A-47D4-ABC6-794F2785B3EC}" type="parTrans" cxnId="{FFBDE4A8-2C54-425C-8C0F-5C9DF2CF8507}">
      <dgm:prSet/>
      <dgm:spPr/>
      <dgm:t>
        <a:bodyPr/>
        <a:lstStyle/>
        <a:p>
          <a:endParaRPr lang="en-IN"/>
        </a:p>
      </dgm:t>
    </dgm:pt>
    <dgm:pt modelId="{0307BD27-BCD3-460B-BE38-ED9F927FFE85}" type="sibTrans" cxnId="{FFBDE4A8-2C54-425C-8C0F-5C9DF2CF8507}">
      <dgm:prSet/>
      <dgm:spPr/>
      <dgm:t>
        <a:bodyPr/>
        <a:lstStyle/>
        <a:p>
          <a:endParaRPr lang="en-IN"/>
        </a:p>
      </dgm:t>
    </dgm:pt>
    <dgm:pt modelId="{370D70BF-C80B-4DB5-8215-A628F9EEAB24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  <a:latin typeface="Nunito Semi Bold" panose="020B0604020202020204" charset="0"/>
            </a:rPr>
            <a:t>6. Solutions Implemented</a:t>
          </a:r>
        </a:p>
      </dgm:t>
    </dgm:pt>
    <dgm:pt modelId="{C5F6CD09-EE35-471B-94BB-C1960B611DF1}" type="parTrans" cxnId="{7F7618F2-1C96-4FFD-9500-9B1D8DD58F8B}">
      <dgm:prSet/>
      <dgm:spPr/>
      <dgm:t>
        <a:bodyPr/>
        <a:lstStyle/>
        <a:p>
          <a:endParaRPr lang="en-IN"/>
        </a:p>
      </dgm:t>
    </dgm:pt>
    <dgm:pt modelId="{5D0F8D07-5306-46B5-ABAD-555D1ED26193}" type="sibTrans" cxnId="{7F7618F2-1C96-4FFD-9500-9B1D8DD58F8B}">
      <dgm:prSet/>
      <dgm:spPr/>
      <dgm:t>
        <a:bodyPr/>
        <a:lstStyle/>
        <a:p>
          <a:endParaRPr lang="en-IN"/>
        </a:p>
      </dgm:t>
    </dgm:pt>
    <dgm:pt modelId="{EF74AD56-1E04-4EFC-98DB-F1B7CD3A2D39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  <a:latin typeface="Nunito Semi Bold" panose="020B0604020202020204" charset="0"/>
            </a:rPr>
            <a:t>7. Conclusion</a:t>
          </a:r>
        </a:p>
      </dgm:t>
    </dgm:pt>
    <dgm:pt modelId="{53267E35-F6B5-4D41-B702-DFDD23C40B2A}" type="parTrans" cxnId="{34D7B926-BE6D-491F-A534-F0F3B545F030}">
      <dgm:prSet/>
      <dgm:spPr/>
      <dgm:t>
        <a:bodyPr/>
        <a:lstStyle/>
        <a:p>
          <a:endParaRPr lang="en-IN"/>
        </a:p>
      </dgm:t>
    </dgm:pt>
    <dgm:pt modelId="{474D5039-328D-4C53-BC80-CE0E4767FB19}" type="sibTrans" cxnId="{34D7B926-BE6D-491F-A534-F0F3B545F030}">
      <dgm:prSet/>
      <dgm:spPr/>
      <dgm:t>
        <a:bodyPr/>
        <a:lstStyle/>
        <a:p>
          <a:endParaRPr lang="en-IN"/>
        </a:p>
      </dgm:t>
    </dgm:pt>
    <dgm:pt modelId="{657747E3-5F2D-47B3-86C0-A8422FD36E08}" type="pres">
      <dgm:prSet presAssocID="{127388B6-3AA5-4A17-B0F0-AF5AD3856E3B}" presName="diagram" presStyleCnt="0">
        <dgm:presLayoutVars>
          <dgm:dir/>
          <dgm:resizeHandles val="exact"/>
        </dgm:presLayoutVars>
      </dgm:prSet>
      <dgm:spPr/>
    </dgm:pt>
    <dgm:pt modelId="{2C389A80-C004-40F6-B7F3-1E2C9D8B4439}" type="pres">
      <dgm:prSet presAssocID="{644F682D-76A0-43E7-9177-070F54AE06C7}" presName="node" presStyleLbl="node1" presStyleIdx="0" presStyleCnt="7">
        <dgm:presLayoutVars>
          <dgm:bulletEnabled val="1"/>
        </dgm:presLayoutVars>
      </dgm:prSet>
      <dgm:spPr/>
    </dgm:pt>
    <dgm:pt modelId="{17B1A03D-488D-4C6B-8306-8E1A62337BC0}" type="pres">
      <dgm:prSet presAssocID="{ABFCC5C4-7FF2-47E6-AD28-BDF5C01C6C8F}" presName="sibTrans" presStyleCnt="0"/>
      <dgm:spPr/>
    </dgm:pt>
    <dgm:pt modelId="{96E142EA-375F-42FD-A569-C9CA0A321513}" type="pres">
      <dgm:prSet presAssocID="{5180332A-16CF-40F8-9C9D-382303781BF7}" presName="node" presStyleLbl="node1" presStyleIdx="1" presStyleCnt="7">
        <dgm:presLayoutVars>
          <dgm:bulletEnabled val="1"/>
        </dgm:presLayoutVars>
      </dgm:prSet>
      <dgm:spPr/>
    </dgm:pt>
    <dgm:pt modelId="{400840C5-E276-4CA1-A4F0-77AF83CB6C59}" type="pres">
      <dgm:prSet presAssocID="{22E42C32-E65B-406D-A6A1-36A8C8F85FEB}" presName="sibTrans" presStyleCnt="0"/>
      <dgm:spPr/>
    </dgm:pt>
    <dgm:pt modelId="{A35653C1-65C8-4CA2-8640-51FE9F020BC6}" type="pres">
      <dgm:prSet presAssocID="{85715FEF-22B8-49CB-BC62-2ACBFD9521E3}" presName="node" presStyleLbl="node1" presStyleIdx="2" presStyleCnt="7">
        <dgm:presLayoutVars>
          <dgm:bulletEnabled val="1"/>
        </dgm:presLayoutVars>
      </dgm:prSet>
      <dgm:spPr/>
    </dgm:pt>
    <dgm:pt modelId="{6A0EF164-3154-4638-9DB5-227D47B2D4AF}" type="pres">
      <dgm:prSet presAssocID="{38523769-ADAD-4DE1-A733-5B4A7EBE8554}" presName="sibTrans" presStyleCnt="0"/>
      <dgm:spPr/>
    </dgm:pt>
    <dgm:pt modelId="{5A1A706C-C872-4299-90E7-B9FAC8DA7599}" type="pres">
      <dgm:prSet presAssocID="{6A12A3AD-2FEE-4E7E-95F4-DAE6E1E511E9}" presName="node" presStyleLbl="node1" presStyleIdx="3" presStyleCnt="7">
        <dgm:presLayoutVars>
          <dgm:bulletEnabled val="1"/>
        </dgm:presLayoutVars>
      </dgm:prSet>
      <dgm:spPr/>
    </dgm:pt>
    <dgm:pt modelId="{C9BC19E0-8C56-42C2-9620-8D666E34A535}" type="pres">
      <dgm:prSet presAssocID="{C832D090-64C5-4E6C-ACC6-999DC6329F8E}" presName="sibTrans" presStyleCnt="0"/>
      <dgm:spPr/>
    </dgm:pt>
    <dgm:pt modelId="{50375155-7CEC-405C-9008-D625E6E219DD}" type="pres">
      <dgm:prSet presAssocID="{079543E6-DA1D-4EE3-A590-3B7388D7135E}" presName="node" presStyleLbl="node1" presStyleIdx="4" presStyleCnt="7" custLinFactNeighborX="0">
        <dgm:presLayoutVars>
          <dgm:bulletEnabled val="1"/>
        </dgm:presLayoutVars>
      </dgm:prSet>
      <dgm:spPr/>
    </dgm:pt>
    <dgm:pt modelId="{03520486-8EDB-43F0-BD8F-B2F741EDE74E}" type="pres">
      <dgm:prSet presAssocID="{0307BD27-BCD3-460B-BE38-ED9F927FFE85}" presName="sibTrans" presStyleCnt="0"/>
      <dgm:spPr/>
    </dgm:pt>
    <dgm:pt modelId="{BC7E0311-2C66-4B14-BF6C-4451AEC47CA6}" type="pres">
      <dgm:prSet presAssocID="{370D70BF-C80B-4DB5-8215-A628F9EEAB24}" presName="node" presStyleLbl="node1" presStyleIdx="5" presStyleCnt="7">
        <dgm:presLayoutVars>
          <dgm:bulletEnabled val="1"/>
        </dgm:presLayoutVars>
      </dgm:prSet>
      <dgm:spPr/>
    </dgm:pt>
    <dgm:pt modelId="{FF68BAF4-F557-4501-BADD-960D0161C2CA}" type="pres">
      <dgm:prSet presAssocID="{5D0F8D07-5306-46B5-ABAD-555D1ED26193}" presName="sibTrans" presStyleCnt="0"/>
      <dgm:spPr/>
    </dgm:pt>
    <dgm:pt modelId="{0C2E8021-B9DE-480B-8B70-34CF06CB7D50}" type="pres">
      <dgm:prSet presAssocID="{EF74AD56-1E04-4EFC-98DB-F1B7CD3A2D39}" presName="node" presStyleLbl="node1" presStyleIdx="6" presStyleCnt="7">
        <dgm:presLayoutVars>
          <dgm:bulletEnabled val="1"/>
        </dgm:presLayoutVars>
      </dgm:prSet>
      <dgm:spPr/>
    </dgm:pt>
  </dgm:ptLst>
  <dgm:cxnLst>
    <dgm:cxn modelId="{34D7B926-BE6D-491F-A534-F0F3B545F030}" srcId="{127388B6-3AA5-4A17-B0F0-AF5AD3856E3B}" destId="{EF74AD56-1E04-4EFC-98DB-F1B7CD3A2D39}" srcOrd="6" destOrd="0" parTransId="{53267E35-F6B5-4D41-B702-DFDD23C40B2A}" sibTransId="{474D5039-328D-4C53-BC80-CE0E4767FB19}"/>
    <dgm:cxn modelId="{5D153D5B-0DB7-4E19-959F-7D0467BC299E}" srcId="{127388B6-3AA5-4A17-B0F0-AF5AD3856E3B}" destId="{5180332A-16CF-40F8-9C9D-382303781BF7}" srcOrd="1" destOrd="0" parTransId="{D9A6FAC4-5BC1-464C-9BEA-A2A7E50F669F}" sibTransId="{22E42C32-E65B-406D-A6A1-36A8C8F85FEB}"/>
    <dgm:cxn modelId="{94B7135F-7D66-4AFD-838B-35CEA38816E0}" type="presOf" srcId="{079543E6-DA1D-4EE3-A590-3B7388D7135E}" destId="{50375155-7CEC-405C-9008-D625E6E219DD}" srcOrd="0" destOrd="0" presId="urn:microsoft.com/office/officeart/2005/8/layout/default"/>
    <dgm:cxn modelId="{3C2D1169-EC20-4CB8-849C-B27DC60E350E}" type="presOf" srcId="{85715FEF-22B8-49CB-BC62-2ACBFD9521E3}" destId="{A35653C1-65C8-4CA2-8640-51FE9F020BC6}" srcOrd="0" destOrd="0" presId="urn:microsoft.com/office/officeart/2005/8/layout/default"/>
    <dgm:cxn modelId="{7B09DA6A-29C6-45EB-B59A-672D235DD3F8}" type="presOf" srcId="{370D70BF-C80B-4DB5-8215-A628F9EEAB24}" destId="{BC7E0311-2C66-4B14-BF6C-4451AEC47CA6}" srcOrd="0" destOrd="0" presId="urn:microsoft.com/office/officeart/2005/8/layout/default"/>
    <dgm:cxn modelId="{6A9ADB56-1201-4344-8B58-8E2E72423A58}" type="presOf" srcId="{6A12A3AD-2FEE-4E7E-95F4-DAE6E1E511E9}" destId="{5A1A706C-C872-4299-90E7-B9FAC8DA7599}" srcOrd="0" destOrd="0" presId="urn:microsoft.com/office/officeart/2005/8/layout/default"/>
    <dgm:cxn modelId="{6B3B527F-7345-4AD0-829C-E0F663670F5A}" type="presOf" srcId="{644F682D-76A0-43E7-9177-070F54AE06C7}" destId="{2C389A80-C004-40F6-B7F3-1E2C9D8B4439}" srcOrd="0" destOrd="0" presId="urn:microsoft.com/office/officeart/2005/8/layout/default"/>
    <dgm:cxn modelId="{33002186-1DD3-4B04-BCBA-2914C91108FF}" type="presOf" srcId="{EF74AD56-1E04-4EFC-98DB-F1B7CD3A2D39}" destId="{0C2E8021-B9DE-480B-8B70-34CF06CB7D50}" srcOrd="0" destOrd="0" presId="urn:microsoft.com/office/officeart/2005/8/layout/default"/>
    <dgm:cxn modelId="{FFBDE4A8-2C54-425C-8C0F-5C9DF2CF8507}" srcId="{127388B6-3AA5-4A17-B0F0-AF5AD3856E3B}" destId="{079543E6-DA1D-4EE3-A590-3B7388D7135E}" srcOrd="4" destOrd="0" parTransId="{B6776827-065A-47D4-ABC6-794F2785B3EC}" sibTransId="{0307BD27-BCD3-460B-BE38-ED9F927FFE85}"/>
    <dgm:cxn modelId="{B93C9EC1-06B4-4994-82BC-2DD6A194AB38}" type="presOf" srcId="{5180332A-16CF-40F8-9C9D-382303781BF7}" destId="{96E142EA-375F-42FD-A569-C9CA0A321513}" srcOrd="0" destOrd="0" presId="urn:microsoft.com/office/officeart/2005/8/layout/default"/>
    <dgm:cxn modelId="{ADBEBCC8-6184-4D5A-9883-598D2A4C0204}" srcId="{127388B6-3AA5-4A17-B0F0-AF5AD3856E3B}" destId="{644F682D-76A0-43E7-9177-070F54AE06C7}" srcOrd="0" destOrd="0" parTransId="{B70AFD3C-7E36-4452-9D44-52941F86BFA7}" sibTransId="{ABFCC5C4-7FF2-47E6-AD28-BDF5C01C6C8F}"/>
    <dgm:cxn modelId="{168890DE-71A2-4705-87B7-380DCF067D80}" srcId="{127388B6-3AA5-4A17-B0F0-AF5AD3856E3B}" destId="{6A12A3AD-2FEE-4E7E-95F4-DAE6E1E511E9}" srcOrd="3" destOrd="0" parTransId="{C3FC567E-3269-47D4-A1A8-298E7627255E}" sibTransId="{C832D090-64C5-4E6C-ACC6-999DC6329F8E}"/>
    <dgm:cxn modelId="{7F7618F2-1C96-4FFD-9500-9B1D8DD58F8B}" srcId="{127388B6-3AA5-4A17-B0F0-AF5AD3856E3B}" destId="{370D70BF-C80B-4DB5-8215-A628F9EEAB24}" srcOrd="5" destOrd="0" parTransId="{C5F6CD09-EE35-471B-94BB-C1960B611DF1}" sibTransId="{5D0F8D07-5306-46B5-ABAD-555D1ED26193}"/>
    <dgm:cxn modelId="{8AE825FA-9289-4571-913C-86739A4075E0}" type="presOf" srcId="{127388B6-3AA5-4A17-B0F0-AF5AD3856E3B}" destId="{657747E3-5F2D-47B3-86C0-A8422FD36E08}" srcOrd="0" destOrd="0" presId="urn:microsoft.com/office/officeart/2005/8/layout/default"/>
    <dgm:cxn modelId="{E08D74FE-621E-47D0-90A5-BF6A360BAE16}" srcId="{127388B6-3AA5-4A17-B0F0-AF5AD3856E3B}" destId="{85715FEF-22B8-49CB-BC62-2ACBFD9521E3}" srcOrd="2" destOrd="0" parTransId="{F74A96F7-31B8-462C-912D-CBD1F859D9BF}" sibTransId="{38523769-ADAD-4DE1-A733-5B4A7EBE8554}"/>
    <dgm:cxn modelId="{2B5D6A03-F511-4A3B-BAD5-BF5831289F82}" type="presParOf" srcId="{657747E3-5F2D-47B3-86C0-A8422FD36E08}" destId="{2C389A80-C004-40F6-B7F3-1E2C9D8B4439}" srcOrd="0" destOrd="0" presId="urn:microsoft.com/office/officeart/2005/8/layout/default"/>
    <dgm:cxn modelId="{BD21AB71-BBD3-4551-9E64-D044F84951AD}" type="presParOf" srcId="{657747E3-5F2D-47B3-86C0-A8422FD36E08}" destId="{17B1A03D-488D-4C6B-8306-8E1A62337BC0}" srcOrd="1" destOrd="0" presId="urn:microsoft.com/office/officeart/2005/8/layout/default"/>
    <dgm:cxn modelId="{A668EE41-0E55-451A-B2DC-9FFC95233937}" type="presParOf" srcId="{657747E3-5F2D-47B3-86C0-A8422FD36E08}" destId="{96E142EA-375F-42FD-A569-C9CA0A321513}" srcOrd="2" destOrd="0" presId="urn:microsoft.com/office/officeart/2005/8/layout/default"/>
    <dgm:cxn modelId="{68DC471E-248E-4940-8651-F6AE0ED6B3DB}" type="presParOf" srcId="{657747E3-5F2D-47B3-86C0-A8422FD36E08}" destId="{400840C5-E276-4CA1-A4F0-77AF83CB6C59}" srcOrd="3" destOrd="0" presId="urn:microsoft.com/office/officeart/2005/8/layout/default"/>
    <dgm:cxn modelId="{71495445-93EF-4720-8B2A-093983DC19F4}" type="presParOf" srcId="{657747E3-5F2D-47B3-86C0-A8422FD36E08}" destId="{A35653C1-65C8-4CA2-8640-51FE9F020BC6}" srcOrd="4" destOrd="0" presId="urn:microsoft.com/office/officeart/2005/8/layout/default"/>
    <dgm:cxn modelId="{27D52ED5-FBE1-4A70-8280-E8143DE348B6}" type="presParOf" srcId="{657747E3-5F2D-47B3-86C0-A8422FD36E08}" destId="{6A0EF164-3154-4638-9DB5-227D47B2D4AF}" srcOrd="5" destOrd="0" presId="urn:microsoft.com/office/officeart/2005/8/layout/default"/>
    <dgm:cxn modelId="{2B9F8A13-947C-4A5B-8354-FBB397E2858E}" type="presParOf" srcId="{657747E3-5F2D-47B3-86C0-A8422FD36E08}" destId="{5A1A706C-C872-4299-90E7-B9FAC8DA7599}" srcOrd="6" destOrd="0" presId="urn:microsoft.com/office/officeart/2005/8/layout/default"/>
    <dgm:cxn modelId="{E52B4C30-CF47-4087-A19F-E0FECC404C96}" type="presParOf" srcId="{657747E3-5F2D-47B3-86C0-A8422FD36E08}" destId="{C9BC19E0-8C56-42C2-9620-8D666E34A535}" srcOrd="7" destOrd="0" presId="urn:microsoft.com/office/officeart/2005/8/layout/default"/>
    <dgm:cxn modelId="{E16B56F4-F6D4-4845-AD2A-21E6DA206C88}" type="presParOf" srcId="{657747E3-5F2D-47B3-86C0-A8422FD36E08}" destId="{50375155-7CEC-405C-9008-D625E6E219DD}" srcOrd="8" destOrd="0" presId="urn:microsoft.com/office/officeart/2005/8/layout/default"/>
    <dgm:cxn modelId="{DF74AB4A-2AC5-4F54-96BE-F87EC9D18E73}" type="presParOf" srcId="{657747E3-5F2D-47B3-86C0-A8422FD36E08}" destId="{03520486-8EDB-43F0-BD8F-B2F741EDE74E}" srcOrd="9" destOrd="0" presId="urn:microsoft.com/office/officeart/2005/8/layout/default"/>
    <dgm:cxn modelId="{E2FC8EC8-2EC1-4BA1-893B-9AF2444D2FD0}" type="presParOf" srcId="{657747E3-5F2D-47B3-86C0-A8422FD36E08}" destId="{BC7E0311-2C66-4B14-BF6C-4451AEC47CA6}" srcOrd="10" destOrd="0" presId="urn:microsoft.com/office/officeart/2005/8/layout/default"/>
    <dgm:cxn modelId="{88503370-1B3B-4F94-9BE7-64A9189624D9}" type="presParOf" srcId="{657747E3-5F2D-47B3-86C0-A8422FD36E08}" destId="{FF68BAF4-F557-4501-BADD-960D0161C2CA}" srcOrd="11" destOrd="0" presId="urn:microsoft.com/office/officeart/2005/8/layout/default"/>
    <dgm:cxn modelId="{CD544890-30C6-4730-9D27-1538E1A95E86}" type="presParOf" srcId="{657747E3-5F2D-47B3-86C0-A8422FD36E08}" destId="{0C2E8021-B9DE-480B-8B70-34CF06CB7D5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89A80-C004-40F6-B7F3-1E2C9D8B4439}">
      <dsp:nvSpPr>
        <dsp:cNvPr id="0" name=""/>
        <dsp:cNvSpPr/>
      </dsp:nvSpPr>
      <dsp:spPr>
        <a:xfrm>
          <a:off x="364553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1. Project Overview &amp; Objective</a:t>
          </a:r>
          <a:endParaRPr lang="en-IN" sz="2700" kern="1200" dirty="0">
            <a:solidFill>
              <a:schemeClr val="tx1"/>
            </a:solidFill>
          </a:endParaRPr>
        </a:p>
      </dsp:txBody>
      <dsp:txXfrm>
        <a:off x="364553" y="1331"/>
        <a:ext cx="2523504" cy="1514102"/>
      </dsp:txXfrm>
    </dsp:sp>
    <dsp:sp modelId="{96E142EA-375F-42FD-A569-C9CA0A321513}">
      <dsp:nvSpPr>
        <dsp:cNvPr id="0" name=""/>
        <dsp:cNvSpPr/>
      </dsp:nvSpPr>
      <dsp:spPr>
        <a:xfrm>
          <a:off x="3140408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2. Data Cleaning and Modeling</a:t>
          </a:r>
          <a:endParaRPr lang="en-IN" sz="2700" kern="1200" dirty="0">
            <a:solidFill>
              <a:schemeClr val="tx1"/>
            </a:solidFill>
          </a:endParaRPr>
        </a:p>
      </dsp:txBody>
      <dsp:txXfrm>
        <a:off x="3140408" y="1331"/>
        <a:ext cx="2523504" cy="1514102"/>
      </dsp:txXfrm>
    </dsp:sp>
    <dsp:sp modelId="{A35653C1-65C8-4CA2-8640-51FE9F020BC6}">
      <dsp:nvSpPr>
        <dsp:cNvPr id="0" name=""/>
        <dsp:cNvSpPr/>
      </dsp:nvSpPr>
      <dsp:spPr>
        <a:xfrm>
          <a:off x="5916263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anose="020B0604020202020204" charset="0"/>
            </a:rPr>
            <a:t>3. KPI LIST</a:t>
          </a:r>
          <a:endParaRPr lang="en-IN" sz="2700" kern="1200" dirty="0">
            <a:solidFill>
              <a:schemeClr val="tx1"/>
            </a:solidFill>
            <a:latin typeface="Nunito Semi Bold" panose="020B0604020202020204" charset="0"/>
          </a:endParaRPr>
        </a:p>
      </dsp:txBody>
      <dsp:txXfrm>
        <a:off x="5916263" y="1331"/>
        <a:ext cx="2523504" cy="1514102"/>
      </dsp:txXfrm>
    </dsp:sp>
    <dsp:sp modelId="{5A1A706C-C872-4299-90E7-B9FAC8DA7599}">
      <dsp:nvSpPr>
        <dsp:cNvPr id="0" name=""/>
        <dsp:cNvSpPr/>
      </dsp:nvSpPr>
      <dsp:spPr>
        <a:xfrm>
          <a:off x="364553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4. Dashboard Presentation</a:t>
          </a:r>
          <a:endParaRPr lang="en-US" sz="2700" kern="1200" dirty="0">
            <a:solidFill>
              <a:schemeClr val="tx1"/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700" kern="1200" dirty="0">
            <a:solidFill>
              <a:schemeClr val="tx1"/>
            </a:solidFill>
          </a:endParaRPr>
        </a:p>
      </dsp:txBody>
      <dsp:txXfrm>
        <a:off x="364553" y="1767784"/>
        <a:ext cx="2523504" cy="1514102"/>
      </dsp:txXfrm>
    </dsp:sp>
    <dsp:sp modelId="{50375155-7CEC-405C-9008-D625E6E219DD}">
      <dsp:nvSpPr>
        <dsp:cNvPr id="0" name=""/>
        <dsp:cNvSpPr/>
      </dsp:nvSpPr>
      <dsp:spPr>
        <a:xfrm>
          <a:off x="3140408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anose="020B0604020202020204" charset="0"/>
            </a:rPr>
            <a:t>5. Challenges Faced</a:t>
          </a:r>
          <a:endParaRPr lang="en-IN" sz="2700" kern="1200" dirty="0">
            <a:solidFill>
              <a:schemeClr val="tx1"/>
            </a:solidFill>
            <a:latin typeface="Nunito Semi Bold" panose="020B0604020202020204" charset="0"/>
          </a:endParaRPr>
        </a:p>
      </dsp:txBody>
      <dsp:txXfrm>
        <a:off x="3140408" y="1767784"/>
        <a:ext cx="2523504" cy="1514102"/>
      </dsp:txXfrm>
    </dsp:sp>
    <dsp:sp modelId="{BC7E0311-2C66-4B14-BF6C-4451AEC47CA6}">
      <dsp:nvSpPr>
        <dsp:cNvPr id="0" name=""/>
        <dsp:cNvSpPr/>
      </dsp:nvSpPr>
      <dsp:spPr>
        <a:xfrm>
          <a:off x="5916263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tx1"/>
              </a:solidFill>
              <a:latin typeface="Nunito Semi Bold" panose="020B0604020202020204" charset="0"/>
            </a:rPr>
            <a:t>6. Solutions Implemented</a:t>
          </a:r>
        </a:p>
      </dsp:txBody>
      <dsp:txXfrm>
        <a:off x="5916263" y="1767784"/>
        <a:ext cx="2523504" cy="1514102"/>
      </dsp:txXfrm>
    </dsp:sp>
    <dsp:sp modelId="{0C2E8021-B9DE-480B-8B70-34CF06CB7D50}">
      <dsp:nvSpPr>
        <dsp:cNvPr id="0" name=""/>
        <dsp:cNvSpPr/>
      </dsp:nvSpPr>
      <dsp:spPr>
        <a:xfrm>
          <a:off x="3140408" y="3534237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tx1"/>
              </a:solidFill>
              <a:latin typeface="Nunito Semi Bold" panose="020B0604020202020204" charset="0"/>
            </a:rPr>
            <a:t>7. Conclusion</a:t>
          </a:r>
        </a:p>
      </dsp:txBody>
      <dsp:txXfrm>
        <a:off x="3140408" y="3534237"/>
        <a:ext cx="2523504" cy="1514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AA189-8D44-43F2-9AB0-8590EE7697E6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CFB1E-40A3-4CDE-A3AB-61A2FCC33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3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8076-5E78-7855-7AF0-FAFBB05C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13CB5-DF31-5B6F-61E3-BEC5EA0D5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81C3-9730-395A-8DC4-A6BA2018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8803-8683-33A5-0A97-64BD413D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831A-36AC-88FB-F41C-9B12AE77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71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F672-6946-728B-E5DE-A9C18F96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BDC-FA2E-C524-780C-90976B5E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4640-04B2-A3E9-25D0-FF192B6E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2A4E-CAF5-91FB-1E8A-B9A9615B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5B14C-590E-AE16-26BA-6578DD81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3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4566-38A8-2CA6-BD01-0CE6E63A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398D8-C7E0-B473-985D-2212772E6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B3BBD-FF95-6F28-B2FB-58DD7B6D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B331-27F8-B357-94BE-1573F8BD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2988A-E4F6-E369-D78B-B188D201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3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7E73-7FD9-C61D-7819-765498B2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A599-556D-A9E6-E4DC-EB6647BD4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CBF9A-59C9-767A-0C96-E1B945558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7EFB2-48E9-BA1C-82A1-92DF993F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C76DB-1B63-E7CE-C3EF-B31B20669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38EFD-8048-8C57-621F-F1B53683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47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BBB8-78B9-4F49-A931-20191241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1C160-5009-62BE-59DA-EDCD3EC32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DD7D6-4E60-0DE3-71E7-A7F3134D2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3448D-2469-768B-2EFD-CD77FAE57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003AD-BA15-6E4F-E0BE-E14BFBC57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D7ED2-13E4-8E1E-5232-C2276375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DF398-D744-1D34-4544-5EFDA777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043DC-765E-9B33-4A55-38207FA3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0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F7E-3430-9181-E02A-0DDCDDB9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DD240-6734-028C-09FF-4B9D7E32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434A8-1834-1804-F6D5-E3F4B2AC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4D66A-4B4C-0206-EE35-A9BB96B1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4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020C-3EC3-1538-1526-6D61FF40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D4899-AF41-529A-C460-83D2DB5E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C295-9552-A708-8A9B-DD8F3C31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93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44B2-26F4-8C3A-97A3-820571EC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849B-A2E5-1782-3AFF-89138BF5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962F3-CCC0-0550-925C-4133911C0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C66C7-788F-F9B9-0C9E-003F0C28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F7C42-0D63-C132-0972-3615333C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5CAF2-3AE3-006F-1065-53AAE8B1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5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8D87-8C78-B2DB-1549-21A436CA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33E88-5638-170A-83DE-F9F997119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9EF53-A067-F3E1-69F8-D2D55B452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44692-05EA-DEEF-4897-797C8F4C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754A-A672-EF79-8D3B-480DCABF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D2DEA-66D1-4E7C-658A-FF18AF5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7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3E6-3B30-6399-E35A-8EF7410B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BDD4B-B932-A5B6-E0EF-CB243973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E2EE-D291-A752-C9AA-F8642974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F8F39-6985-BC3C-5360-17EAF112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2D76B-03BC-6686-D414-208B4DA7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647AA-B8C4-C6CB-D6DF-62C67C018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10337-6D2B-309F-F84C-48319B665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E6CC-6E53-2F55-F16A-1FF606B35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A6785-22C4-E42D-9D03-D8572281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9B34-4B57-1E98-2A44-FD411845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995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54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17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95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15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44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87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94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68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25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33000">
              <a:schemeClr val="accent1">
                <a:lumMod val="45000"/>
                <a:lumOff val="55000"/>
              </a:schemeClr>
            </a:gs>
            <a:gs pos="8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5664C-10A7-734A-A67F-89CD2021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A246E-9DB9-781D-F2C1-5B259506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217A8-F74A-B617-0792-E8348686A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81B9-3D59-E5A2-D7D6-C0F268FE2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188F-0646-93DF-D5B6-49633F52B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16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33000">
              <a:schemeClr val="accent1">
                <a:lumMod val="45000"/>
                <a:lumOff val="55000"/>
              </a:schemeClr>
            </a:gs>
            <a:gs pos="8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9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1882-5BC1-FB0F-7AE6-87F37358D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72333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Healthcare</a:t>
            </a:r>
            <a:r>
              <a:rPr lang="en-US" b="1" dirty="0">
                <a:latin typeface="Arial Rounded MT Bold" panose="020F0704030504030204" pitchFamily="34" charset="0"/>
              </a:rPr>
              <a:t> Data Analysis Project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8E914-D4A8-6BD2-6D65-91B417E2B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120"/>
            <a:ext cx="12192000" cy="61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7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D12D8B-71A2-46FB-9E5F-3C4F3B547CF0}"/>
              </a:ext>
            </a:extLst>
          </p:cNvPr>
          <p:cNvSpPr/>
          <p:nvPr/>
        </p:nvSpPr>
        <p:spPr>
          <a:xfrm>
            <a:off x="150125" y="177422"/>
            <a:ext cx="3070747" cy="8461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i="1" u="sng" dirty="0">
                <a:latin typeface="Arial Rounded MT Bold" panose="020F0704030504030204" pitchFamily="34" charset="0"/>
              </a:rPr>
              <a:t>Contents :-</a:t>
            </a:r>
            <a:endParaRPr lang="en-IN" sz="4000" i="1" u="sng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97CB04F-3BE1-D219-7E7F-61CC3A45E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5181677"/>
              </p:ext>
            </p:extLst>
          </p:nvPr>
        </p:nvGraphicFramePr>
        <p:xfrm>
          <a:off x="1693839" y="1241946"/>
          <a:ext cx="8804322" cy="5049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684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232012" y="245659"/>
            <a:ext cx="3807725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u="sng" dirty="0">
                <a:solidFill>
                  <a:schemeClr val="tx1"/>
                </a:solidFill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Project Overview &amp; Objective</a:t>
            </a:r>
            <a:endParaRPr lang="en-IN" sz="2000" b="1" i="1" u="sng" dirty="0">
              <a:solidFill>
                <a:schemeClr val="tx1"/>
              </a:solidFill>
              <a:latin typeface="Nunito Semi Bold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4CC73-2F31-93F7-509B-F126C1000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1105469"/>
            <a:ext cx="4572000" cy="55068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5049672" y="136476"/>
            <a:ext cx="6910316" cy="3910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200" kern="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u="sng" dirty="0">
                <a:solidFill>
                  <a:schemeClr val="tx1"/>
                </a:solidFill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Project Overview</a:t>
            </a:r>
            <a:endParaRPr lang="en-IN" sz="1400" kern="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This project is based on a healthcare dataset that includes detailed information about patients, doctors, visits, treatments, and lab results.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It focuses on managing and analysing patient demographics, medical history, and contact information.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project also examines doctor details such as specialization, experience, and hospital affiliation.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It provides insights into patient visits, including diagnosis, reasons for visits, and prescribed medications.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Additionally, the project covers treatment data like medication, dosage, cost, and outcomes.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Lab test results are also analysed to understand patient health conditions and medical reports.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Overall, this project helps in understanding how healthcare data is organized and used to improve patient care and decision-making.</a:t>
            </a:r>
            <a:endParaRPr lang="en-IN" sz="12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91EA6-F483-9FCC-5285-2859C48016D0}"/>
              </a:ext>
            </a:extLst>
          </p:cNvPr>
          <p:cNvSpPr/>
          <p:nvPr/>
        </p:nvSpPr>
        <p:spPr>
          <a:xfrm>
            <a:off x="5049672" y="4162567"/>
            <a:ext cx="6910315" cy="2449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rgbClr val="00002E"/>
              </a:solidFill>
              <a:latin typeface="PT Sans" pitchFamily="34" charset="0"/>
              <a:ea typeface="PT Sans" pitchFamily="34" charset="-122"/>
              <a:cs typeface="PT Sans" pitchFamily="34" charset="-120"/>
            </a:endParaRPr>
          </a:p>
          <a:p>
            <a:r>
              <a:rPr lang="en-US" sz="1400" b="1" u="sng" dirty="0">
                <a:solidFill>
                  <a:srgbClr val="00002E"/>
                </a:solidFill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Team &amp; Timeline</a:t>
            </a:r>
          </a:p>
          <a:p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4-week project duration, evolving through various tools: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1: Excel for initial data exploration.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2: Tableau for initial modeling and visualization.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3: Powerbi and SQL for advanced analysis.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4: Final presentation preparation.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400" b="1" dirty="0">
              <a:solidFill>
                <a:srgbClr val="00002E"/>
              </a:solidFill>
              <a:latin typeface="Nunito Semi Bold" panose="020B0604020202020204" charset="0"/>
              <a:ea typeface="PT Sans" pitchFamily="34" charset="-122"/>
              <a:cs typeface="PT Sans" pitchFamily="34" charset="-120"/>
            </a:endParaRPr>
          </a:p>
          <a:p>
            <a:r>
              <a:rPr lang="en-US" sz="1400" b="1" u="sng" dirty="0">
                <a:solidFill>
                  <a:srgbClr val="00002E"/>
                </a:solidFill>
                <a:latin typeface="Nunito Semi Bold" panose="020B0604020202020204" charset="0"/>
                <a:ea typeface="PT Sans" pitchFamily="34" charset="-122"/>
                <a:cs typeface="PT Sans" pitchFamily="34" charset="-120"/>
              </a:rPr>
              <a:t>Key Goal</a:t>
            </a:r>
            <a:r>
              <a:rPr lang="en-US" sz="1400" b="1" dirty="0">
                <a:solidFill>
                  <a:srgbClr val="00002E"/>
                </a:solidFill>
                <a:latin typeface="Nunito Semi Bold" panose="020B0604020202020204" charset="0"/>
                <a:ea typeface="PT Sans" pitchFamily="34" charset="-122"/>
                <a:cs typeface="PT Sans" pitchFamily="34" charset="-120"/>
              </a:rPr>
              <a:t>: </a:t>
            </a:r>
            <a:r>
              <a:rPr lang="en-US" sz="120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Ensure consistent Key Performance Indicators (KPIs) across all analytical tools used.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78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856" y="576461"/>
            <a:ext cx="6606382" cy="5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125"/>
              </a:lnSpc>
            </a:pPr>
            <a:r>
              <a:rPr lang="en-US" sz="3292" b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Cleaning And Data Modeling</a:t>
            </a:r>
            <a:endParaRPr lang="en-US" sz="3292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56" y="1462882"/>
            <a:ext cx="5468144" cy="717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245" y="2359819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042"/>
              </a:lnSpc>
            </a:pPr>
            <a:r>
              <a:rPr lang="en-US" sz="1625" b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Distributed Cleaning</a:t>
            </a:r>
            <a:endParaRPr lang="en-US" sz="1625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7245" y="2731095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25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I Am responsible for cleaning and modeling one specific dataset, ensuring thorough initial processing.</a:t>
            </a:r>
            <a:endParaRPr lang="en-US" sz="125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462882"/>
            <a:ext cx="5468144" cy="717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5388" y="2359819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042"/>
              </a:lnSpc>
            </a:pPr>
            <a:r>
              <a:rPr lang="en-US" sz="1625" b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Rigorous Cleaning</a:t>
            </a:r>
            <a:endParaRPr lang="en-US" sz="1625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75388" y="2731095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25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Systematic removal of duplicates and comprehensive handling of missing values across all datasets to maintain data integrity.</a:t>
            </a:r>
            <a:endParaRPr lang="en-US" sz="125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56" y="3484364"/>
            <a:ext cx="5468144" cy="717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45" y="4381302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042"/>
              </a:lnSpc>
            </a:pPr>
            <a:r>
              <a:rPr lang="en-US" sz="1625" b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Seamless Integration</a:t>
            </a:r>
            <a:endParaRPr lang="en-US" sz="1625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07245" y="4752578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25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All individual sheets were meticulously merged into a single, cohesive master dataset, ready for unified analysis.</a:t>
            </a:r>
            <a:endParaRPr lang="en-US" sz="125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1" y="3484364"/>
            <a:ext cx="5468144" cy="7175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5388" y="4381302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042"/>
              </a:lnSpc>
            </a:pPr>
            <a:r>
              <a:rPr lang="en-US" sz="1625" b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Standardized KPIs</a:t>
            </a:r>
            <a:endParaRPr lang="en-US" sz="1625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275388" y="4752578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250" dirty="0">
                <a:solidFill>
                  <a:srgbClr val="00002E"/>
                </a:solidFill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Implemented a unified set of KPIs, ensuring consistency and comparability across Power BI, Tableau, and SQL environments.</a:t>
            </a:r>
            <a:endParaRPr lang="en-US" sz="125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27856" y="5707657"/>
            <a:ext cx="10936288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600" dirty="0">
                <a:solidFill>
                  <a:srgbClr val="00002E"/>
                </a:solidFill>
                <a:latin typeface="Arial Rounded MT Bold" panose="020F0704030504030204" pitchFamily="34" charset="0"/>
                <a:ea typeface="PT Sans" pitchFamily="34" charset="-122"/>
                <a:cs typeface="PT Sans" pitchFamily="34" charset="-120"/>
              </a:rPr>
              <a:t>This structured approach to data preparation was crucial for building a reliable foundation for our subsequent analysis and dashboard development.</a:t>
            </a:r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40CA9E-221C-3A9D-8FB8-DBD10B38F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970" y="6252685"/>
            <a:ext cx="2453030" cy="579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E41EC2-8225-9B68-05DF-5219E2DD2B2D}"/>
              </a:ext>
            </a:extLst>
          </p:cNvPr>
          <p:cNvSpPr/>
          <p:nvPr/>
        </p:nvSpPr>
        <p:spPr>
          <a:xfrm>
            <a:off x="163775" y="204718"/>
            <a:ext cx="2565778" cy="6277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latin typeface="Nunito Semi Bold" panose="020B0604020202020204" charset="0"/>
              </a:rPr>
              <a:t>KPI List</a:t>
            </a:r>
            <a:endParaRPr lang="en-IN" sz="3200" b="1" u="sng" dirty="0">
              <a:latin typeface="Nunito Semi 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6F675-D651-7B1A-FB44-23DE8C499DC2}"/>
              </a:ext>
            </a:extLst>
          </p:cNvPr>
          <p:cNvSpPr txBox="1"/>
          <p:nvPr/>
        </p:nvSpPr>
        <p:spPr>
          <a:xfrm>
            <a:off x="163775" y="1201003"/>
            <a:ext cx="109728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Total Patients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10,000 (</a:t>
            </a:r>
            <a:r>
              <a:rPr lang="en-US" kern="100" dirty="0">
                <a:effectLst/>
                <a:latin typeface="Calibri" panose="020F050202020403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otal number of registered patients)</a:t>
            </a:r>
            <a:endParaRPr lang="en-US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Total Doctors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1000 (</a:t>
            </a:r>
            <a:r>
              <a:rPr lang="en-US" kern="100" dirty="0">
                <a:latin typeface="Calibri" panose="020F050202020403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otal number of available doctors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Total Visits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10,000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patient visits over a given period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4.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Age of Patients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49.9 </a:t>
            </a: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Top 5 Diagnosed Conditions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Migraine , Hypertension , Asthma , Healthy , Diabetes</a:t>
            </a: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6.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Treatment Cost Per Visit (Avg.)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524.75</a:t>
            </a: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7.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Total Lab Tests Conducted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10,000 (</a:t>
            </a:r>
            <a:r>
              <a:rPr lang="en-US" kern="100" dirty="0">
                <a:latin typeface="Calibri" panose="020F050202020403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olume of lab tests performed)</a:t>
            </a:r>
            <a:endParaRPr lang="en-US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Percentage of Abnormal Lab Results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= 34 % (</a:t>
            </a:r>
            <a:r>
              <a:rPr lang="en-US" kern="100" dirty="0">
                <a:latin typeface="Calibri" panose="020F050202020403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rate of abnormal test results)</a:t>
            </a:r>
            <a:endParaRPr lang="en-US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9. </a:t>
            </a:r>
            <a:r>
              <a:rPr lang="en-US" sz="19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Doctor Workload (Avg. Patients Per Doctor) </a:t>
            </a:r>
            <a:r>
              <a:rPr lang="en-US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= 10</a:t>
            </a:r>
            <a:endParaRPr lang="en-I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37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2A835-FE24-2D6B-FB82-C9198FDEE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775"/>
            <a:ext cx="12191999" cy="6273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F918C0-7B9E-E6F1-34E8-4ECA12A802B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260311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D2C854-EC91-0601-F967-8D9A0DA70BE3}"/>
              </a:ext>
            </a:extLst>
          </p:cNvPr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9585AA-08D8-588B-B729-5F7BF8417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331"/>
            <a:ext cx="12192000" cy="621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8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482DD-37B5-DBD9-78E5-58FF48D6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75"/>
            <a:ext cx="12192000" cy="6273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60746A-BAF4-E367-EEC9-9249B545042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66886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77AB-A8C6-07BD-78FE-B6F697CEE43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MySQL Queries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A0DC7A-080C-B1E5-7156-B904D872B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69" y="1152245"/>
            <a:ext cx="4151025" cy="2222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838D41-3E25-B448-306C-936A52403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17" y="3817629"/>
            <a:ext cx="4468527" cy="2222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32F8F7-EA33-0C35-0A37-8A7231573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685" y="1152245"/>
            <a:ext cx="4151025" cy="2222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8002A6-62AB-4B4E-941B-FC19A4E48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684" y="3721669"/>
            <a:ext cx="4179245" cy="23182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2402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291011-E09E-1F79-89B0-BF8BB6F4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14"/>
          <a:stretch>
            <a:fillRect/>
          </a:stretch>
        </p:blipFill>
        <p:spPr>
          <a:xfrm>
            <a:off x="447039" y="464357"/>
            <a:ext cx="5439094" cy="28765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24204C-5170-EC20-939D-498BF129F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17"/>
          <a:stretch>
            <a:fillRect/>
          </a:stretch>
        </p:blipFill>
        <p:spPr>
          <a:xfrm>
            <a:off x="447040" y="3669031"/>
            <a:ext cx="5201920" cy="25377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7AFF0C-67C7-39E7-B9EF-DB1364511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548"/>
          <a:stretch>
            <a:fillRect/>
          </a:stretch>
        </p:blipFill>
        <p:spPr>
          <a:xfrm>
            <a:off x="6096000" y="473904"/>
            <a:ext cx="5424487" cy="27150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6137C9-8927-B6CD-32B1-FE850085C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30"/>
          <a:stretch>
            <a:fillRect/>
          </a:stretch>
        </p:blipFill>
        <p:spPr>
          <a:xfrm>
            <a:off x="5886133" y="3669031"/>
            <a:ext cx="5634354" cy="2537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377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A3621-60C2-ADA3-B8FF-FA61C6623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8" y="577849"/>
            <a:ext cx="4974272" cy="24843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B09D60-2451-21DA-5F5C-E58819B3F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3617259"/>
            <a:ext cx="4994275" cy="2459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EEF692-7753-DD23-B5C5-A44625C9E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7850"/>
            <a:ext cx="5401235" cy="24843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5063A-57C2-49B0-85B8-82FB8A080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17259"/>
            <a:ext cx="5514975" cy="25011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964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C5992-014E-FD6D-F637-7CF4A6FB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0" y="724217"/>
            <a:ext cx="4457552" cy="1897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F80939-5ACE-D52B-CDFC-4B67E9B59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63" y="3077380"/>
            <a:ext cx="4457552" cy="2045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2DFF8D-6F50-5A51-9A3F-65A8048F8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24218"/>
            <a:ext cx="4810782" cy="1897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DC8921-73B0-0C91-F8E4-AE7F2857DC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272" y="3797392"/>
            <a:ext cx="7001023" cy="21865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532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232012" y="245659"/>
            <a:ext cx="4097941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Challenges Faced &amp; Solutions</a:t>
            </a:r>
            <a:endParaRPr kumimoji="0" lang="en-IN" sz="20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5049672" y="136477"/>
            <a:ext cx="6910316" cy="32925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Challenges Faced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Managing large volumes of healthcare data from multiple sources was complex.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Ensuring data accuracy and consistency across different tables (patients, doctors, visits, etc.) was difficult.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Handling relationships between entities like patients, doctors, and treatments required proper structuring.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Missing or incomplete data in records created issues during analysis.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Maintaining data privacy and security was a major concern.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Understanding real-world healthcare workflows and mapping them into a database was challenging.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91EA6-F483-9FCC-5285-2859C48016D0}"/>
              </a:ext>
            </a:extLst>
          </p:cNvPr>
          <p:cNvSpPr/>
          <p:nvPr/>
        </p:nvSpPr>
        <p:spPr>
          <a:xfrm>
            <a:off x="5049672" y="3536577"/>
            <a:ext cx="6910316" cy="3184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Solutions Implemented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srgbClr val="00002E"/>
              </a:solidFill>
              <a:effectLst/>
              <a:uLnTx/>
              <a:uFillTx/>
              <a:latin typeface="Nunito Semi Bold" panose="020B0604020202020204" charset="0"/>
              <a:ea typeface="PT Sans" pitchFamily="34" charset="-122"/>
              <a:cs typeface="PT Sans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Organized the data into structured tables such as Patient, Doctor, Visit, Treatment, and Lab Results.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Used proper database design techniques (like primary keys and foreign keys) to maintain relationships.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Cleaned and validated data to handle missing or incorrect values.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Ensured data consistency by standardizing formats and entries.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Applied logical design to accurately represent real-world healthcare processes.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Focused on secure handling of sensitive healthcare information.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E7D3B-FA25-65FA-1BC0-57DA3DC62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1142999"/>
            <a:ext cx="4577497" cy="55785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326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4192136" y="286001"/>
            <a:ext cx="3807725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kumimoji="0" lang="en-IN" sz="36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1514098" y="1526743"/>
            <a:ext cx="9163802" cy="3804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 project demonstrates how healthcare data can be efficiently organized and managed.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 highlights the importance of accurate data in improving patient care.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 analysis helps in understanding treatment patterns and medical outcomes.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Proper data management can reduce errors and improve hospital efficiency.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Overall, this system supports better decision-making in healthcare services.</a:t>
            </a:r>
          </a:p>
        </p:txBody>
      </p:sp>
    </p:spTree>
    <p:extLst>
      <p:ext uri="{BB962C8B-B14F-4D97-AF65-F5344CB8AC3E}">
        <p14:creationId xmlns:p14="http://schemas.microsoft.com/office/powerpoint/2010/main" val="366793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C77C36-7B86-27E6-73B2-5FF797CADD65}"/>
              </a:ext>
            </a:extLst>
          </p:cNvPr>
          <p:cNvSpPr/>
          <p:nvPr/>
        </p:nvSpPr>
        <p:spPr>
          <a:xfrm>
            <a:off x="3016623" y="2393576"/>
            <a:ext cx="6158753" cy="2070847"/>
          </a:xfrm>
          <a:prstGeom prst="roundRect">
            <a:avLst/>
          </a:prstGeom>
          <a:ln w="952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00000000000000000" charset="-120"/>
                <a:ea typeface="Nunito Semi Bold" panose="02000000000000000000" charset="-120"/>
                <a:cs typeface="Nunito Semi Bold" panose="02000000000000000000" charset="-120"/>
              </a:rPr>
              <a:t>THANK YOU</a:t>
            </a:r>
            <a:endParaRPr kumimoji="0" lang="en-I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00000000000000000" charset="-120"/>
              <a:ea typeface="Nunito Semi Bold" panose="02000000000000000000" charset="-120"/>
              <a:cs typeface="Nunito Semi Bold" panose="020000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799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704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Rounded MT Bold</vt:lpstr>
      <vt:lpstr>Calibri</vt:lpstr>
      <vt:lpstr>Calibri Light</vt:lpstr>
      <vt:lpstr>Lucida Fax</vt:lpstr>
      <vt:lpstr>Nunito Semi Bold</vt:lpstr>
      <vt:lpstr>PT Sans</vt:lpstr>
      <vt:lpstr>Symbol</vt:lpstr>
      <vt:lpstr>Verdana</vt:lpstr>
      <vt:lpstr>Office Theme</vt:lpstr>
      <vt:lpstr>1_Office Theme</vt:lpstr>
      <vt:lpstr>Healthcare Data Analysis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 Analysis Project</dc:title>
  <dc:creator>manpreetsingh7290@outlook.com</dc:creator>
  <cp:lastModifiedBy>K.R.ROHITH HEGADE</cp:lastModifiedBy>
  <cp:revision>6</cp:revision>
  <dcterms:created xsi:type="dcterms:W3CDTF">2026-04-07T11:49:30Z</dcterms:created>
  <dcterms:modified xsi:type="dcterms:W3CDTF">2026-05-31T18:02:01Z</dcterms:modified>
</cp:coreProperties>
</file>